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0" r:id="rId3"/>
    <p:sldId id="278" r:id="rId4"/>
    <p:sldId id="261" r:id="rId5"/>
    <p:sldId id="281" r:id="rId6"/>
    <p:sldId id="263" r:id="rId7"/>
    <p:sldId id="265" r:id="rId8"/>
    <p:sldId id="296" r:id="rId9"/>
    <p:sldId id="264" r:id="rId10"/>
    <p:sldId id="266" r:id="rId11"/>
    <p:sldId id="267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3" r:id="rId23"/>
    <p:sldId id="295" r:id="rId24"/>
    <p:sldId id="276" r:id="rId25"/>
    <p:sldId id="294" r:id="rId26"/>
  </p:sldIdLst>
  <p:sldSz cx="12192000" cy="6858000"/>
  <p:notesSz cx="6858000" cy="9144000"/>
  <p:embeddedFontLst>
    <p:embeddedFont>
      <p:font typeface="Comic Sans MS" panose="030F0702030302020204" pitchFamily="66" charset="0"/>
      <p:regular r:id="rId28"/>
      <p:bold r:id="rId29"/>
      <p:italic r:id="rId30"/>
      <p:boldItalic r:id="rId31"/>
    </p:embeddedFont>
    <p:embeddedFont>
      <p:font typeface="Libre Baskerville" panose="02000000000000000000" pitchFamily="2" charset="0"/>
      <p:regular r:id="rId32"/>
      <p:bold r:id="rId33"/>
      <p: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rutha Sai Yarragodala" userId="1dd710a5b75bcc9a" providerId="LiveId" clId="{2F6D4963-BD56-41F8-A7E7-3A9F773DFB17}"/>
    <pc:docChg chg="custSel delSld modSld">
      <pc:chgData name="Amrutha Sai Yarragodala" userId="1dd710a5b75bcc9a" providerId="LiveId" clId="{2F6D4963-BD56-41F8-A7E7-3A9F773DFB17}" dt="2025-12-13T07:06:57.649" v="49" actId="20577"/>
      <pc:docMkLst>
        <pc:docMk/>
      </pc:docMkLst>
      <pc:sldChg chg="del">
        <pc:chgData name="Amrutha Sai Yarragodala" userId="1dd710a5b75bcc9a" providerId="LiveId" clId="{2F6D4963-BD56-41F8-A7E7-3A9F773DFB17}" dt="2025-12-13T06:39:06.539" v="9" actId="2696"/>
        <pc:sldMkLst>
          <pc:docMk/>
          <pc:sldMk cId="0" sldId="259"/>
        </pc:sldMkLst>
      </pc:sldChg>
      <pc:sldChg chg="modSp mod">
        <pc:chgData name="Amrutha Sai Yarragodala" userId="1dd710a5b75bcc9a" providerId="LiveId" clId="{2F6D4963-BD56-41F8-A7E7-3A9F773DFB17}" dt="2025-12-13T07:01:50.114" v="46" actId="27636"/>
        <pc:sldMkLst>
          <pc:docMk/>
          <pc:sldMk cId="3434322822" sldId="264"/>
        </pc:sldMkLst>
        <pc:spChg chg="mod">
          <ac:chgData name="Amrutha Sai Yarragodala" userId="1dd710a5b75bcc9a" providerId="LiveId" clId="{2F6D4963-BD56-41F8-A7E7-3A9F773DFB17}" dt="2025-12-13T07:01:50.114" v="46" actId="27636"/>
          <ac:spMkLst>
            <pc:docMk/>
            <pc:sldMk cId="3434322822" sldId="264"/>
            <ac:spMk id="2" creationId="{E1C52877-0C48-5832-A3A6-F82C9EE642F6}"/>
          </ac:spMkLst>
        </pc:spChg>
        <pc:picChg chg="mod">
          <ac:chgData name="Amrutha Sai Yarragodala" userId="1dd710a5b75bcc9a" providerId="LiveId" clId="{2F6D4963-BD56-41F8-A7E7-3A9F773DFB17}" dt="2025-12-13T07:01:32.173" v="28" actId="1076"/>
          <ac:picMkLst>
            <pc:docMk/>
            <pc:sldMk cId="3434322822" sldId="264"/>
            <ac:picMk id="3082" creationId="{EC2EC784-CEE9-A58C-1939-2AA806F63672}"/>
          </ac:picMkLst>
        </pc:picChg>
        <pc:picChg chg="mod">
          <ac:chgData name="Amrutha Sai Yarragodala" userId="1dd710a5b75bcc9a" providerId="LiveId" clId="{2F6D4963-BD56-41F8-A7E7-3A9F773DFB17}" dt="2025-12-13T07:01:32.528" v="29" actId="1076"/>
          <ac:picMkLst>
            <pc:docMk/>
            <pc:sldMk cId="3434322822" sldId="264"/>
            <ac:picMk id="3084" creationId="{81ABF712-4AED-CDA3-4D98-A52C78496C5D}"/>
          </ac:picMkLst>
        </pc:picChg>
      </pc:sldChg>
      <pc:sldChg chg="modSp mod">
        <pc:chgData name="Amrutha Sai Yarragodala" userId="1dd710a5b75bcc9a" providerId="LiveId" clId="{2F6D4963-BD56-41F8-A7E7-3A9F773DFB17}" dt="2025-12-13T06:43:10.305" v="12" actId="20577"/>
        <pc:sldMkLst>
          <pc:docMk/>
          <pc:sldMk cId="3244275708" sldId="266"/>
        </pc:sldMkLst>
        <pc:spChg chg="mod">
          <ac:chgData name="Amrutha Sai Yarragodala" userId="1dd710a5b75bcc9a" providerId="LiveId" clId="{2F6D4963-BD56-41F8-A7E7-3A9F773DFB17}" dt="2025-12-13T06:43:10.305" v="12" actId="20577"/>
          <ac:spMkLst>
            <pc:docMk/>
            <pc:sldMk cId="3244275708" sldId="266"/>
            <ac:spMk id="4" creationId="{3B15DCCC-4D7B-11A3-E7AE-A55D7E9A484F}"/>
          </ac:spMkLst>
        </pc:spChg>
      </pc:sldChg>
      <pc:sldChg chg="modSp mod">
        <pc:chgData name="Amrutha Sai Yarragodala" userId="1dd710a5b75bcc9a" providerId="LiveId" clId="{2F6D4963-BD56-41F8-A7E7-3A9F773DFB17}" dt="2025-12-13T06:22:03.652" v="1" actId="2711"/>
        <pc:sldMkLst>
          <pc:docMk/>
          <pc:sldMk cId="3268474259" sldId="267"/>
        </pc:sldMkLst>
        <pc:spChg chg="mod">
          <ac:chgData name="Amrutha Sai Yarragodala" userId="1dd710a5b75bcc9a" providerId="LiveId" clId="{2F6D4963-BD56-41F8-A7E7-3A9F773DFB17}" dt="2025-12-13T06:22:03.652" v="1" actId="2711"/>
          <ac:spMkLst>
            <pc:docMk/>
            <pc:sldMk cId="3268474259" sldId="267"/>
            <ac:spMk id="10" creationId="{0AF21342-FF3B-A195-33FF-DA36CFC36F5B}"/>
          </ac:spMkLst>
        </pc:spChg>
      </pc:sldChg>
      <pc:sldChg chg="modSp mod">
        <pc:chgData name="Amrutha Sai Yarragodala" userId="1dd710a5b75bcc9a" providerId="LiveId" clId="{2F6D4963-BD56-41F8-A7E7-3A9F773DFB17}" dt="2025-12-13T06:23:06.029" v="8" actId="1076"/>
        <pc:sldMkLst>
          <pc:docMk/>
          <pc:sldMk cId="1644687032" sldId="276"/>
        </pc:sldMkLst>
        <pc:spChg chg="mod">
          <ac:chgData name="Amrutha Sai Yarragodala" userId="1dd710a5b75bcc9a" providerId="LiveId" clId="{2F6D4963-BD56-41F8-A7E7-3A9F773DFB17}" dt="2025-12-13T06:22:52.402" v="4" actId="2711"/>
          <ac:spMkLst>
            <pc:docMk/>
            <pc:sldMk cId="1644687032" sldId="276"/>
            <ac:spMk id="7" creationId="{049A65FA-1BD2-3D0C-9464-54228F1AF97D}"/>
          </ac:spMkLst>
        </pc:spChg>
        <pc:spChg chg="mod">
          <ac:chgData name="Amrutha Sai Yarragodala" userId="1dd710a5b75bcc9a" providerId="LiveId" clId="{2F6D4963-BD56-41F8-A7E7-3A9F773DFB17}" dt="2025-12-13T06:23:06.029" v="8" actId="1076"/>
          <ac:spMkLst>
            <pc:docMk/>
            <pc:sldMk cId="1644687032" sldId="276"/>
            <ac:spMk id="9" creationId="{18E89059-348E-B23F-A452-9559E079A4AC}"/>
          </ac:spMkLst>
        </pc:spChg>
      </pc:sldChg>
      <pc:sldChg chg="modSp mod">
        <pc:chgData name="Amrutha Sai Yarragodala" userId="1dd710a5b75bcc9a" providerId="LiveId" clId="{2F6D4963-BD56-41F8-A7E7-3A9F773DFB17}" dt="2025-12-13T07:04:42.970" v="47" actId="113"/>
        <pc:sldMkLst>
          <pc:docMk/>
          <pc:sldMk cId="281434090" sldId="284"/>
        </pc:sldMkLst>
        <pc:spChg chg="mod">
          <ac:chgData name="Amrutha Sai Yarragodala" userId="1dd710a5b75bcc9a" providerId="LiveId" clId="{2F6D4963-BD56-41F8-A7E7-3A9F773DFB17}" dt="2025-12-13T07:04:42.970" v="47" actId="113"/>
          <ac:spMkLst>
            <pc:docMk/>
            <pc:sldMk cId="281434090" sldId="284"/>
            <ac:spMk id="9" creationId="{4F065E1C-0126-72AD-BFDD-3734E8E65BD3}"/>
          </ac:spMkLst>
        </pc:spChg>
      </pc:sldChg>
      <pc:sldChg chg="modSp mod">
        <pc:chgData name="Amrutha Sai Yarragodala" userId="1dd710a5b75bcc9a" providerId="LiveId" clId="{2F6D4963-BD56-41F8-A7E7-3A9F773DFB17}" dt="2025-12-13T06:59:33.560" v="19" actId="1035"/>
        <pc:sldMkLst>
          <pc:docMk/>
          <pc:sldMk cId="2723714033" sldId="285"/>
        </pc:sldMkLst>
        <pc:spChg chg="mod">
          <ac:chgData name="Amrutha Sai Yarragodala" userId="1dd710a5b75bcc9a" providerId="LiveId" clId="{2F6D4963-BD56-41F8-A7E7-3A9F773DFB17}" dt="2025-12-13T06:59:33.560" v="19" actId="1035"/>
          <ac:spMkLst>
            <pc:docMk/>
            <pc:sldMk cId="2723714033" sldId="285"/>
            <ac:spMk id="9" creationId="{7F17776D-C6D6-ADF2-7B59-51DBFADAFDC8}"/>
          </ac:spMkLst>
        </pc:spChg>
      </pc:sldChg>
      <pc:sldChg chg="modSp mod">
        <pc:chgData name="Amrutha Sai Yarragodala" userId="1dd710a5b75bcc9a" providerId="LiveId" clId="{2F6D4963-BD56-41F8-A7E7-3A9F773DFB17}" dt="2025-12-13T07:00:50.028" v="25" actId="207"/>
        <pc:sldMkLst>
          <pc:docMk/>
          <pc:sldMk cId="3058148405" sldId="286"/>
        </pc:sldMkLst>
        <pc:spChg chg="mod">
          <ac:chgData name="Amrutha Sai Yarragodala" userId="1dd710a5b75bcc9a" providerId="LiveId" clId="{2F6D4963-BD56-41F8-A7E7-3A9F773DFB17}" dt="2025-12-13T07:00:32.216" v="22" actId="113"/>
          <ac:spMkLst>
            <pc:docMk/>
            <pc:sldMk cId="3058148405" sldId="286"/>
            <ac:spMk id="9" creationId="{E85F434D-6498-9F65-1009-A625CB4FD05B}"/>
          </ac:spMkLst>
        </pc:spChg>
        <pc:spChg chg="mod">
          <ac:chgData name="Amrutha Sai Yarragodala" userId="1dd710a5b75bcc9a" providerId="LiveId" clId="{2F6D4963-BD56-41F8-A7E7-3A9F773DFB17}" dt="2025-12-13T07:00:50.028" v="25" actId="207"/>
          <ac:spMkLst>
            <pc:docMk/>
            <pc:sldMk cId="3058148405" sldId="286"/>
            <ac:spMk id="12" creationId="{4AB3AD9B-760B-D1F5-EC8B-47E9B58F32B7}"/>
          </ac:spMkLst>
        </pc:spChg>
      </pc:sldChg>
      <pc:sldChg chg="modSp mod">
        <pc:chgData name="Amrutha Sai Yarragodala" userId="1dd710a5b75bcc9a" providerId="LiveId" clId="{2F6D4963-BD56-41F8-A7E7-3A9F773DFB17}" dt="2025-12-13T07:06:33.968" v="48" actId="113"/>
        <pc:sldMkLst>
          <pc:docMk/>
          <pc:sldMk cId="3097881007" sldId="291"/>
        </pc:sldMkLst>
        <pc:spChg chg="mod">
          <ac:chgData name="Amrutha Sai Yarragodala" userId="1dd710a5b75bcc9a" providerId="LiveId" clId="{2F6D4963-BD56-41F8-A7E7-3A9F773DFB17}" dt="2025-12-13T07:06:33.968" v="48" actId="113"/>
          <ac:spMkLst>
            <pc:docMk/>
            <pc:sldMk cId="3097881007" sldId="291"/>
            <ac:spMk id="9" creationId="{6184B9D1-8EAC-895F-BCA3-D89DB32B338A}"/>
          </ac:spMkLst>
        </pc:spChg>
      </pc:sldChg>
      <pc:sldChg chg="modSp mod">
        <pc:chgData name="Amrutha Sai Yarragodala" userId="1dd710a5b75bcc9a" providerId="LiveId" clId="{2F6D4963-BD56-41F8-A7E7-3A9F773DFB17}" dt="2025-12-13T07:06:57.649" v="49" actId="20577"/>
        <pc:sldMkLst>
          <pc:docMk/>
          <pc:sldMk cId="1363571730" sldId="295"/>
        </pc:sldMkLst>
        <pc:spChg chg="mod">
          <ac:chgData name="Amrutha Sai Yarragodala" userId="1dd710a5b75bcc9a" providerId="LiveId" clId="{2F6D4963-BD56-41F8-A7E7-3A9F773DFB17}" dt="2025-12-13T06:21:16.295" v="0" actId="2711"/>
          <ac:spMkLst>
            <pc:docMk/>
            <pc:sldMk cId="1363571730" sldId="295"/>
            <ac:spMk id="5" creationId="{73DDBDDD-8DA7-BAB8-21F7-F65F17D369B8}"/>
          </ac:spMkLst>
        </pc:spChg>
        <pc:spChg chg="mod">
          <ac:chgData name="Amrutha Sai Yarragodala" userId="1dd710a5b75bcc9a" providerId="LiveId" clId="{2F6D4963-BD56-41F8-A7E7-3A9F773DFB17}" dt="2025-12-13T07:06:57.649" v="49" actId="20577"/>
          <ac:spMkLst>
            <pc:docMk/>
            <pc:sldMk cId="1363571730" sldId="295"/>
            <ac:spMk id="11" creationId="{73EC1918-6DF0-1601-D975-AE8336B7B2E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D62AA37B-3AFB-F95C-1479-A55A2AFC4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426A14D5-57DC-1535-F830-7E506F5075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5B350644-8005-98F8-E5CB-C2F973483A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05400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ruthasai0524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888/notebooks/Links/web,regex/project/Visualization%20EDA.ipynb#%F0%9F%93%8CRatings-and-review-counts-are-strongly-correlated-with-each-other,-prices-correlate-strongly-with-original-prices-and-moderately-with-RAM/ROM,-but-the-rating-score-itself-has-only-weak-correlation-with-price-or-engagement.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888/notebooks/Links/web,regex/project/Visualization%20EDA.ipynb#%F0%9F%93%8CTalk-about-typical-discount-range-and-extreme-offers.Calculated-discount-percentages-cluster-in-a-moderate-range,-with-most-phones-getting-similar-mid%E2%80%91level-discounts-and-only-a-few-receiving-very-deep-cuts.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888/notebooks/Links/web,regex/project/Visualization%20EDA.ipynb#%F0%9F%93%8CEasy-slide-showing-most-offered-hardware-configurations.The-6-GB-/-128-GB-and-8-GB-/-128-GB-combinations-appear-most-frequently,-forming-the-core-of-the-portfolio;-4-GB-/-128-GB-and-8%E2%80%9312-GB-/-256-GB-are-niche-segments.%E2%80%8B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888/notebooks/Links/web,regex/project/Visualization%20EDA.ipynb#%F0%9F%93%8CIf-the-pattern-is-upward,-you-can-say-deeper-discounts-are-associated-with-more-buyers/ratingsThe-scatter-between-discount-%-and-number_of_ratings-shows-at-best-a-mild-positive-pattern:-heavily-discounted-phones-sometimes-attract-more-ratings,-but-discount-alone-does-not-fully-explain-engagement.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-560439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CC5244-CD1C-B957-E40D-E5D18679EF2B}"/>
              </a:ext>
            </a:extLst>
          </p:cNvPr>
          <p:cNvSpPr txBox="1"/>
          <p:nvPr/>
        </p:nvSpPr>
        <p:spPr>
          <a:xfrm>
            <a:off x="1104643" y="4860435"/>
            <a:ext cx="9976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Scraping and Exploratory Data Analysis of  Realme Product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F1D093-350B-2B61-CAE5-A439E1154BB4}"/>
              </a:ext>
            </a:extLst>
          </p:cNvPr>
          <p:cNvSpPr txBox="1"/>
          <p:nvPr/>
        </p:nvSpPr>
        <p:spPr>
          <a:xfrm>
            <a:off x="1976284" y="3292541"/>
            <a:ext cx="97594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b="1" dirty="0">
                <a:latin typeface="Comic Sans MS" panose="030F0702030302020204" pitchFamily="66" charset="0"/>
              </a:rPr>
              <a:t>Realme Smartphone Analysis</a:t>
            </a:r>
            <a:endParaRPr lang="en-IN" sz="5400" b="1" dirty="0"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1B24BA-7A41-A4AC-0A0E-5E90693A9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986" y="3229896"/>
            <a:ext cx="1048621" cy="10486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BCD2-097C-AB08-F476-BFB1E155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434" y="241238"/>
            <a:ext cx="10515600" cy="99172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Me: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B9929B-C357-D27B-49AE-F42136576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14" y="1269625"/>
            <a:ext cx="10742724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 am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Yarragodala Amrutha Sai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.Pharmacy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graduate with a strong passion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and  Visualization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Skilled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exploring real-world datasets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uncover meaningful insights.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Experienced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data extraction and cleaning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Python tools.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Continuously learning to enhance expertise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and analytics tools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-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https://github.com/amruthasai0524</a:t>
            </a: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LINKEDIN -https://www.linkedin.com/in/amruthasaiyarragodala/</a:t>
            </a:r>
          </a:p>
        </p:txBody>
      </p:sp>
    </p:spTree>
    <p:extLst>
      <p:ext uri="{BB962C8B-B14F-4D97-AF65-F5344CB8AC3E}">
        <p14:creationId xmlns:p14="http://schemas.microsoft.com/office/powerpoint/2010/main" val="1926531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01898-F3F3-4391-5B5D-C100FB686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622" y="276635"/>
            <a:ext cx="10515600" cy="915035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Preface: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3F87A-8911-2A6B-0436-A3C21B64F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5177" y="1191670"/>
            <a:ext cx="9721645" cy="4351338"/>
          </a:xfrm>
        </p:spPr>
        <p:txBody>
          <a:bodyPr>
            <a:normAutofit fontScale="70000" lnSpcReduction="20000"/>
          </a:bodyPr>
          <a:lstStyle/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</a:t>
            </a: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SCRAPPING</a:t>
            </a: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252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C60B-D09B-73C1-83C7-5B8D1B69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38" y="308837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2DCD9-A327-3BE0-5E99-2B80AB2BF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028" y="1603395"/>
            <a:ext cx="8323991" cy="3651209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50000"/>
              </a:lnSpc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analysis of Realme smartphone product portfolio</a:t>
            </a:r>
          </a:p>
          <a:p>
            <a:pPr>
              <a:lnSpc>
                <a:spcPct val="150000"/>
              </a:lnSpc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extracted from Flipkart e-commerce platform</a:t>
            </a:r>
          </a:p>
          <a:p>
            <a:pPr>
              <a:lnSpc>
                <a:spcPct val="150000"/>
              </a:lnSpc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9,768 smartphone records across multiple product pages</a:t>
            </a:r>
          </a:p>
          <a:p>
            <a:pPr>
              <a:lnSpc>
                <a:spcPct val="150000"/>
              </a:lnSpc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pricing, specifications, ratings &amp; customer reviews</a:t>
            </a:r>
          </a:p>
          <a:p>
            <a:pPr algn="just"/>
            <a:endParaRPr lang="en-IN" dirty="0"/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B22221D8-FFB4-69A5-0E6B-CFA11E559A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9F4D67FC-92D3-6EE8-165B-2A06CBBE8C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36E963-3E4A-DB62-6B97-C3CBDECE3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0205" y="1688690"/>
            <a:ext cx="3313471" cy="348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894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8D8E4-E110-A56B-CF40-8DF40882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57C9-6048-86FD-D462-6C406156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53F8E77D-A54D-37AC-0CFB-13F9D3FF7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B546583E-4336-B42B-A208-E8DBEF2661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0DBD2A-2603-F502-B2D8-6CE9EB49EA78}"/>
              </a:ext>
            </a:extLst>
          </p:cNvPr>
          <p:cNvSpPr txBox="1"/>
          <p:nvPr/>
        </p:nvSpPr>
        <p:spPr>
          <a:xfrm>
            <a:off x="713136" y="995278"/>
            <a:ext cx="7793879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pricing strategies across Realme product lineup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correlation between specifications and market price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customer satisfaction through ratings &amp; reviews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 discount patterns and revenue optimization opportunities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7759E6-0240-A0BC-E2B1-D249DAF99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9751" y="1688690"/>
            <a:ext cx="3453926" cy="348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36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FAD8-355A-6C86-DAAE-3E3F9DC6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430018"/>
            <a:ext cx="2907890" cy="9091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E286A-B439-A981-0498-5FBB8AF7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5181" y="1507059"/>
            <a:ext cx="9721645" cy="3383505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 smartphone data using web scraping techniques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standardize raw data for analysis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statistical analysis on price &amp; specifications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actionable visualizations for insights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027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9875-408F-AAEB-E616-9F7F913C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41" y="425011"/>
            <a:ext cx="3657623" cy="684068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C51-E6DE-FD43-74F8-6AC7547F18CD}"/>
              </a:ext>
            </a:extLst>
          </p:cNvPr>
          <p:cNvSpPr txBox="1"/>
          <p:nvPr/>
        </p:nvSpPr>
        <p:spPr>
          <a:xfrm>
            <a:off x="167149" y="1310563"/>
            <a:ext cx="5777459" cy="4376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data from Flipkart's Realme product listing pages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parse HTML structure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Captured 413 pages of smartphone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Collected: Product name, price, ratings, specifications, reviews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DAC9B1-EE5B-BDEC-188A-2B3949E03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903" y="678427"/>
            <a:ext cx="6735097" cy="470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4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B927B-2C25-40CC-4590-F7F1CDE38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E8BBF-25D0-6779-0CC9-D47815541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5159" y="298011"/>
            <a:ext cx="3657623" cy="684068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</a:p>
        </p:txBody>
      </p:sp>
      <p:pic>
        <p:nvPicPr>
          <p:cNvPr id="8" name="Picture 7" descr="A screenshot of a computer">
            <a:extLst>
              <a:ext uri="{FF2B5EF4-FFF2-40B4-BE49-F238E27FC236}">
                <a16:creationId xmlns:a16="http://schemas.microsoft.com/office/drawing/2014/main" id="{18CC657E-BA47-8BFE-F318-DACA61B2F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5849"/>
            <a:ext cx="12192000" cy="487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684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2877-0C48-5832-A3A6-F82C9EE64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553" y="435917"/>
            <a:ext cx="4019550" cy="823861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Used: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091940F-394A-C4D9-49A9-28A0D53A3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326" y="1517596"/>
            <a:ext cx="3930769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143134B-5DDE-9DA9-C904-C2C12CE77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014" y="4568005"/>
            <a:ext cx="31908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gEx - Transformation Services | openHAB">
            <a:extLst>
              <a:ext uri="{FF2B5EF4-FFF2-40B4-BE49-F238E27FC236}">
                <a16:creationId xmlns:a16="http://schemas.microsoft.com/office/drawing/2014/main" id="{EC2EC784-CEE9-A58C-1939-2AA806F63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5" y="3063874"/>
            <a:ext cx="40195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Beautiful Soup 4 | Funthon">
            <a:extLst>
              <a:ext uri="{FF2B5EF4-FFF2-40B4-BE49-F238E27FC236}">
                <a16:creationId xmlns:a16="http://schemas.microsoft.com/office/drawing/2014/main" id="{81ABF712-4AED-CDA3-4D98-A52C78496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777" y="1381892"/>
            <a:ext cx="3267075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Citing and logo — seaborn 0.13.2 ...">
            <a:extLst>
              <a:ext uri="{FF2B5EF4-FFF2-40B4-BE49-F238E27FC236}">
                <a16:creationId xmlns:a16="http://schemas.microsoft.com/office/drawing/2014/main" id="{7EC87C6C-8C0E-53D2-B133-B39020CF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595" y="4710880"/>
            <a:ext cx="40005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Matplotlib Logo &amp; Brand Assets (SVG ...">
            <a:extLst>
              <a:ext uri="{FF2B5EF4-FFF2-40B4-BE49-F238E27FC236}">
                <a16:creationId xmlns:a16="http://schemas.microsoft.com/office/drawing/2014/main" id="{65CBCFCE-FD98-D992-1C08-65F5EFEB6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926" y="3109858"/>
            <a:ext cx="3705225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322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3525-D926-CE9E-E017-A7BE8655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036" y="249722"/>
            <a:ext cx="5008061" cy="72367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15DCCC-4D7B-11A3-E7AE-A55D7E9A484F}"/>
              </a:ext>
            </a:extLst>
          </p:cNvPr>
          <p:cNvSpPr txBox="1"/>
          <p:nvPr/>
        </p:nvSpPr>
        <p:spPr>
          <a:xfrm>
            <a:off x="234277" y="1286843"/>
            <a:ext cx="6155461" cy="4284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currency symbols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(₹) from price columns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prices to numeric format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&amp; ROM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from feature strings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Parsed discount percentages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original prices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colour variants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product names using regex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Separated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ratings from review counts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and duplicate records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 and formats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B58B6955-96FA-15F0-9838-66CE6B581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682" y="283072"/>
            <a:ext cx="6181317" cy="629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275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B0041-6786-98A5-A78C-5FFC636E6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F21342-FF3B-A195-33FF-DA36CFC36F5B}"/>
              </a:ext>
            </a:extLst>
          </p:cNvPr>
          <p:cNvSpPr txBox="1"/>
          <p:nvPr/>
        </p:nvSpPr>
        <p:spPr>
          <a:xfrm>
            <a:off x="1012723" y="5401876"/>
            <a:ext cx="9438968" cy="1606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📌Price is right‑skewed (some premium phones), engagement is also skewed with few very popular models.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graph of a graph and a graph of a graph">
            <a:extLst>
              <a:ext uri="{FF2B5EF4-FFF2-40B4-BE49-F238E27FC236}">
                <a16:creationId xmlns:a16="http://schemas.microsoft.com/office/drawing/2014/main" id="{7C371F44-AF62-D8DC-7658-289601967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90" y="1148336"/>
            <a:ext cx="10616259" cy="416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74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B076-F25A-AF23-B2ED-E39CABA8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6DB9-CFE0-861F-FD41-2793A641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BEE56589-01A9-82F1-9AFD-824C101E2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9" y="861202"/>
            <a:ext cx="7649496" cy="56420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419217-B0D7-7220-432D-278A16599815}"/>
              </a:ext>
            </a:extLst>
          </p:cNvPr>
          <p:cNvSpPr txBox="1"/>
          <p:nvPr/>
        </p:nvSpPr>
        <p:spPr>
          <a:xfrm>
            <a:off x="7561008" y="1982450"/>
            <a:ext cx="463099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6 GB and 8 GB RAM with 128 GB ROM dominate the catalogue; 4 GB and 12 GB RAM, and 256 GB ROM, appear much less often.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0832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9CB1F-F52B-AB9B-23B5-48A7B7E1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7876-07C0-93DC-2DD7-21561A9F9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pic>
        <p:nvPicPr>
          <p:cNvPr id="5" name="Picture 4" descr="A graph showing different colored squares">
            <a:extLst>
              <a:ext uri="{FF2B5EF4-FFF2-40B4-BE49-F238E27FC236}">
                <a16:creationId xmlns:a16="http://schemas.microsoft.com/office/drawing/2014/main" id="{9C1C4C4E-CE23-E2C9-714D-5C45B36C0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226" y="840359"/>
            <a:ext cx="6636774" cy="25241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C9B19D-69B1-0939-E1CE-017E94997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248" y="3493499"/>
            <a:ext cx="7167752" cy="31626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7CE24F-32C8-486A-9C2C-6DC55021F19A}"/>
              </a:ext>
            </a:extLst>
          </p:cNvPr>
          <p:cNvSpPr txBox="1"/>
          <p:nvPr/>
        </p:nvSpPr>
        <p:spPr>
          <a:xfrm>
            <a:off x="0" y="117500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06"/>
              </a:spcBef>
              <a:spcAft>
                <a:spcPts val="871"/>
              </a:spcAft>
              <a:buNone/>
            </a:pPr>
            <a:r>
              <a:rPr lang="en-GB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does price vary by RAM and ROM?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6C523C-CC4D-BD0A-2CD0-438E730C0160}"/>
              </a:ext>
            </a:extLst>
          </p:cNvPr>
          <p:cNvSpPr txBox="1"/>
          <p:nvPr/>
        </p:nvSpPr>
        <p:spPr>
          <a:xfrm>
            <a:off x="228676" y="2556576"/>
            <a:ext cx="4945590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907"/>
              </a:spcBef>
              <a:spcAft>
                <a:spcPts val="605"/>
              </a:spcAft>
              <a:buNone/>
            </a:pPr>
            <a:r>
              <a:rPr lang="en-GB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📌Shows how much extra customers pay for higher RAM/ROM tiers; good to discuss up‑selling strategy Median price clearly increases as RAM goes from 4 → 6 → 8 → 12 GB and when ROM goes from 128 → 256 GB, with only small overlap between tiers.</a:t>
            </a:r>
          </a:p>
        </p:txBody>
      </p:sp>
    </p:spTree>
    <p:extLst>
      <p:ext uri="{BB962C8B-B14F-4D97-AF65-F5344CB8AC3E}">
        <p14:creationId xmlns:p14="http://schemas.microsoft.com/office/powerpoint/2010/main" val="712714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61A13-0770-5F19-9105-5BE0808AD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671AE-6593-5B1A-5289-CECB9FBCD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pic>
        <p:nvPicPr>
          <p:cNvPr id="4" name="Picture 3" descr="A graph with numbers and points">
            <a:extLst>
              <a:ext uri="{FF2B5EF4-FFF2-40B4-BE49-F238E27FC236}">
                <a16:creationId xmlns:a16="http://schemas.microsoft.com/office/drawing/2014/main" id="{4E68DC47-07BD-ED1C-F569-D8F9517F4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973" y="1425677"/>
            <a:ext cx="7033100" cy="50775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FCE3F1-14BE-CFC8-17FE-0DD354C31D58}"/>
              </a:ext>
            </a:extLst>
          </p:cNvPr>
          <p:cNvSpPr txBox="1"/>
          <p:nvPr/>
        </p:nvSpPr>
        <p:spPr>
          <a:xfrm>
            <a:off x="103365" y="1069195"/>
            <a:ext cx="69365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06"/>
              </a:spcBef>
              <a:spcAft>
                <a:spcPts val="871"/>
              </a:spcAft>
              <a:buNone/>
            </a:pPr>
            <a:r>
              <a:rPr lang="en-GB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higher‑priced phones actually rated better?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065E1C-0126-72AD-BFDD-3734E8E65BD3}"/>
              </a:ext>
            </a:extLst>
          </p:cNvPr>
          <p:cNvSpPr txBox="1"/>
          <p:nvPr/>
        </p:nvSpPr>
        <p:spPr>
          <a:xfrm>
            <a:off x="192087" y="1660194"/>
            <a:ext cx="4811886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907"/>
              </a:spcBef>
              <a:spcAft>
                <a:spcPts val="605"/>
              </a:spcAft>
              <a:buNone/>
            </a:pPr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📌Often ratings stay around 4.3–4.4 across price bands, so premium price doesn’t guarantee higher satisfaction; </a:t>
            </a:r>
            <a:r>
              <a:rPr lang="en-GB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big bubbles show best‑selling models cluster in certain price </a:t>
            </a:r>
            <a:r>
              <a:rPr lang="en-GB" sz="24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ranges.No</a:t>
            </a:r>
            <a:r>
              <a:rPr lang="en-GB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phones across all price levels sit around 4.3–4.4 stars</a:t>
            </a:r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so expensive models are not noticeably better rated than cheaper ones.</a:t>
            </a:r>
          </a:p>
        </p:txBody>
      </p:sp>
    </p:spTree>
    <p:extLst>
      <p:ext uri="{BB962C8B-B14F-4D97-AF65-F5344CB8AC3E}">
        <p14:creationId xmlns:p14="http://schemas.microsoft.com/office/powerpoint/2010/main" val="281434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66B82-888C-47A4-9A93-E3BDA0BC9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4AAAA-6A70-A375-E36A-57C13DEB2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917C97-B836-FF9A-E519-149DB5E049B3}"/>
              </a:ext>
            </a:extLst>
          </p:cNvPr>
          <p:cNvSpPr txBox="1"/>
          <p:nvPr/>
        </p:nvSpPr>
        <p:spPr>
          <a:xfrm>
            <a:off x="245806" y="1163635"/>
            <a:ext cx="58501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06"/>
              </a:spcBef>
              <a:spcAft>
                <a:spcPts val="871"/>
              </a:spcAft>
              <a:buNone/>
            </a:pPr>
            <a:r>
              <a:rPr lang="en-GB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colours and variants are most popular</a:t>
            </a:r>
            <a:r>
              <a:rPr lang="en-GB" sz="2400" dirty="0">
                <a:latin typeface="system-ui"/>
                <a:cs typeface="Times New Roman" panose="02020603050405020304" pitchFamily="18" charset="0"/>
              </a:rPr>
              <a:t>?</a:t>
            </a:r>
            <a:endParaRPr lang="en-GB" b="0" i="0" dirty="0">
              <a:effectLst/>
              <a:latin typeface="system-ui"/>
            </a:endParaRPr>
          </a:p>
        </p:txBody>
      </p:sp>
      <p:pic>
        <p:nvPicPr>
          <p:cNvPr id="7" name="Picture 6" descr="A graph of different colors">
            <a:extLst>
              <a:ext uri="{FF2B5EF4-FFF2-40B4-BE49-F238E27FC236}">
                <a16:creationId xmlns:a16="http://schemas.microsoft.com/office/drawing/2014/main" id="{0D60161F-85AE-0E82-FC34-70AD42C7D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142" y="2536723"/>
            <a:ext cx="5844618" cy="4270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17776D-C6D6-ADF2-7B59-51DBFADAFDC8}"/>
              </a:ext>
            </a:extLst>
          </p:cNvPr>
          <p:cNvSpPr txBox="1"/>
          <p:nvPr/>
        </p:nvSpPr>
        <p:spPr>
          <a:xfrm>
            <a:off x="346995" y="2546555"/>
            <a:ext cx="5975147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907"/>
              </a:spcBef>
              <a:spcAft>
                <a:spcPts val="605"/>
              </a:spcAft>
              <a:buNone/>
            </a:pPr>
            <a:r>
              <a:rPr lang="en-GB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📌You can say which colours dominate the catalogue and whether any colour consistently commands higher/lower prices. Colours like Crystal Purple, Onyx Black, Midnight Lily, and Purple Blossom have the </a:t>
            </a:r>
            <a:r>
              <a:rPr lang="en-GB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counts </a:t>
            </a:r>
            <a:r>
              <a:rPr lang="en-GB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are tied to </a:t>
            </a:r>
            <a:r>
              <a:rPr lang="en-GB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mid‑range prices</a:t>
            </a:r>
            <a:r>
              <a:rPr lang="en-GB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while colours like Midnight Ivy, Dark Oak Wood, Silk Purple, Velvet Green, and Flowing Silver are fewer and linked to much higher prices</a:t>
            </a: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B079BA-0D76-6DFF-9EBB-75A0C49AC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664" y="46617"/>
            <a:ext cx="2991267" cy="2490106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299E12-6D42-3D18-8094-312156A341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6890" y="0"/>
            <a:ext cx="3115110" cy="253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14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98682-D684-5CBE-45F7-312D5903D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BA065-3F45-1970-A334-E1F2237E1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6FAE8A-F6B4-904A-BF19-C5E414D1D45A}"/>
              </a:ext>
            </a:extLst>
          </p:cNvPr>
          <p:cNvSpPr txBox="1"/>
          <p:nvPr/>
        </p:nvSpPr>
        <p:spPr>
          <a:xfrm>
            <a:off x="206477" y="116363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06"/>
              </a:spcBef>
              <a:spcAft>
                <a:spcPts val="871"/>
              </a:spcAft>
              <a:buNone/>
            </a:pPr>
            <a:r>
              <a:rPr lang="en-GB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correlations and key drivers?</a:t>
            </a:r>
          </a:p>
        </p:txBody>
      </p:sp>
      <p:pic>
        <p:nvPicPr>
          <p:cNvPr id="7" name="Picture 6" descr="A diagram of a number of ratings">
            <a:extLst>
              <a:ext uri="{FF2B5EF4-FFF2-40B4-BE49-F238E27FC236}">
                <a16:creationId xmlns:a16="http://schemas.microsoft.com/office/drawing/2014/main" id="{680B22D8-FA09-8741-2E4E-C5F3F5EB7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571" y="852340"/>
            <a:ext cx="6684593" cy="56508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5F434D-6498-9F65-1009-A625CB4FD05B}"/>
              </a:ext>
            </a:extLst>
          </p:cNvPr>
          <p:cNvSpPr txBox="1"/>
          <p:nvPr/>
        </p:nvSpPr>
        <p:spPr>
          <a:xfrm>
            <a:off x="255952" y="1655843"/>
            <a:ext cx="4680155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price1 vs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original_lprice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be very high (discount is mainly % off).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number_of_ratings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number_of_reviews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be strongly correlated (engagement).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correlation between price1 and ratings supports the earlier scatter‑plot insight.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B3AD9B-760B-D1F5-EC8B-47E9B58F32B7}"/>
              </a:ext>
            </a:extLst>
          </p:cNvPr>
          <p:cNvSpPr txBox="1"/>
          <p:nvPr/>
        </p:nvSpPr>
        <p:spPr>
          <a:xfrm>
            <a:off x="255952" y="4499817"/>
            <a:ext cx="4738519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907"/>
              </a:spcBef>
              <a:spcAft>
                <a:spcPts val="605"/>
              </a:spcAft>
              <a:buNone/>
            </a:pPr>
            <a:r>
              <a:rPr lang="en-GB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</a:t>
            </a:r>
            <a:r>
              <a:rPr lang="en-GB" sz="1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Ratings and review counts are strongly correlated</a:t>
            </a:r>
            <a:r>
              <a:rPr lang="en-GB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each other, prices correlate strongly with original prices and moderately with RAM/ROM, but the rating score itself has only weak correlation with price or engagement.</a:t>
            </a:r>
            <a:r>
              <a:rPr lang="en-GB" sz="1800" b="0" i="0" u="sng" dirty="0">
                <a:solidFill>
                  <a:srgbClr val="0D47A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¶</a:t>
            </a:r>
            <a:endParaRPr lang="en-GB" sz="1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148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49E88-4526-D32F-FA99-F8D0DD335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11ECB-3EDE-E23F-4E4E-253ECB3A5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4E5C7A-2621-DE6B-6D32-85E4ECCE4A39}"/>
              </a:ext>
            </a:extLst>
          </p:cNvPr>
          <p:cNvSpPr txBox="1"/>
          <p:nvPr/>
        </p:nvSpPr>
        <p:spPr>
          <a:xfrm>
            <a:off x="383458" y="121279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06"/>
              </a:spcBef>
              <a:spcAft>
                <a:spcPts val="871"/>
              </a:spcAft>
              <a:buNone/>
            </a:pPr>
            <a:r>
              <a:rPr lang="en-GB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discount do customers actually get?</a:t>
            </a:r>
          </a:p>
        </p:txBody>
      </p:sp>
      <p:pic>
        <p:nvPicPr>
          <p:cNvPr id="7" name="Picture 6" descr="A graph of a discount&#10;&#10;AI-generated content may be incorrect.">
            <a:extLst>
              <a:ext uri="{FF2B5EF4-FFF2-40B4-BE49-F238E27FC236}">
                <a16:creationId xmlns:a16="http://schemas.microsoft.com/office/drawing/2014/main" id="{424C0DA7-1D84-0846-990A-A069E66FF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943" y="1212796"/>
            <a:ext cx="6249272" cy="44678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0BF7A6-80F1-2227-7BA4-7D07A2028D6D}"/>
              </a:ext>
            </a:extLst>
          </p:cNvPr>
          <p:cNvSpPr txBox="1"/>
          <p:nvPr/>
        </p:nvSpPr>
        <p:spPr>
          <a:xfrm>
            <a:off x="383458" y="2118229"/>
            <a:ext cx="5019485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907"/>
              </a:spcBef>
              <a:spcAft>
                <a:spcPts val="605"/>
              </a:spcAft>
              <a:buNone/>
            </a:pPr>
            <a:r>
              <a:rPr lang="en-GB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📌Talk about typical discount range and extreme offers. Calculated discount percentages cluster in a moderate range, with most phones getting similar mid‑level discounts and only a few receiving very deep cuts.</a:t>
            </a:r>
            <a:r>
              <a:rPr lang="en-GB" sz="1800" b="0" i="0" u="none" strike="noStrike" dirty="0">
                <a:solidFill>
                  <a:srgbClr val="0D47A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¶</a:t>
            </a:r>
            <a:endParaRPr lang="en-GB" sz="1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503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55667-5F7A-A4C2-EFC8-E35861955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4E140-5F98-DE88-FD81-3C52AFAAC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F29F5F-F1B5-59AE-C022-400F5505886A}"/>
              </a:ext>
            </a:extLst>
          </p:cNvPr>
          <p:cNvSpPr txBox="1"/>
          <p:nvPr/>
        </p:nvSpPr>
        <p:spPr>
          <a:xfrm>
            <a:off x="393290" y="117346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06"/>
              </a:spcBef>
              <a:spcAft>
                <a:spcPts val="871"/>
              </a:spcAft>
              <a:buNone/>
            </a:pPr>
            <a:r>
              <a:rPr lang="en-GB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RAM–ROM combos are most common?</a:t>
            </a:r>
          </a:p>
        </p:txBody>
      </p:sp>
      <p:pic>
        <p:nvPicPr>
          <p:cNvPr id="7" name="Picture 6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D1E2D139-5E7F-7578-F9CF-F7157376F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972" y="1483514"/>
            <a:ext cx="6265050" cy="43175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63848D-31C3-DE78-B3ED-57F0FD642433}"/>
              </a:ext>
            </a:extLst>
          </p:cNvPr>
          <p:cNvSpPr txBox="1"/>
          <p:nvPr/>
        </p:nvSpPr>
        <p:spPr>
          <a:xfrm>
            <a:off x="304800" y="2483859"/>
            <a:ext cx="5791200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907"/>
              </a:spcBef>
              <a:spcAft>
                <a:spcPts val="605"/>
              </a:spcAft>
              <a:buNone/>
            </a:pPr>
            <a:r>
              <a:rPr lang="en-GB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📌Easy slide showing most offered hardware </a:t>
            </a:r>
            <a:r>
              <a:rPr lang="en-GB" sz="1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configurations.The</a:t>
            </a:r>
            <a:r>
              <a:rPr lang="en-GB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6 GB / 128 GB and 8 GB / 128 GB combinations appear most frequently, forming the core of the portfolio; 4 GB / 128 GB and 8–12 GB / 256 GB are niche segments.​</a:t>
            </a:r>
            <a:r>
              <a:rPr lang="en-GB" sz="1800" b="0" i="0" u="none" strike="noStrike" dirty="0">
                <a:solidFill>
                  <a:srgbClr val="0D47A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¶</a:t>
            </a:r>
            <a:endParaRPr lang="en-GB" sz="1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180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B6375-873F-A5A0-AEE6-0EE96A9B3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96D57-B54C-227A-553D-FBD81EC08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5A8CFD-1EB2-5230-A6ED-74223D154226}"/>
              </a:ext>
            </a:extLst>
          </p:cNvPr>
          <p:cNvSpPr txBox="1"/>
          <p:nvPr/>
        </p:nvSpPr>
        <p:spPr>
          <a:xfrm>
            <a:off x="403122" y="126195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06"/>
              </a:spcBef>
              <a:spcAft>
                <a:spcPts val="871"/>
              </a:spcAft>
              <a:buNone/>
            </a:pPr>
            <a:r>
              <a:rPr lang="en-GB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 higher discounts boost ratings count?</a:t>
            </a:r>
          </a:p>
        </p:txBody>
      </p:sp>
      <p:pic>
        <p:nvPicPr>
          <p:cNvPr id="7" name="Picture 6" descr="A graph with numbers and points&#10;&#10;AI-generated content may be incorrect.">
            <a:extLst>
              <a:ext uri="{FF2B5EF4-FFF2-40B4-BE49-F238E27FC236}">
                <a16:creationId xmlns:a16="http://schemas.microsoft.com/office/drawing/2014/main" id="{C911E3D8-6196-83F0-2F87-15A1D3372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929" y="1170454"/>
            <a:ext cx="5043949" cy="48517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0D0FC0-917E-ED63-AC16-60922888B569}"/>
              </a:ext>
            </a:extLst>
          </p:cNvPr>
          <p:cNvSpPr txBox="1"/>
          <p:nvPr/>
        </p:nvSpPr>
        <p:spPr>
          <a:xfrm>
            <a:off x="511278" y="2632278"/>
            <a:ext cx="6096000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907"/>
              </a:spcBef>
              <a:spcAft>
                <a:spcPts val="605"/>
              </a:spcAft>
              <a:buNone/>
            </a:pPr>
            <a:r>
              <a:rPr lang="en-GB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📌If the pattern is upward, you can say deeper discounts are associated with more buyers/</a:t>
            </a:r>
            <a:r>
              <a:rPr lang="en-GB" sz="1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ratingsThe</a:t>
            </a:r>
            <a:r>
              <a:rPr lang="en-GB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scatter between discount % and </a:t>
            </a:r>
            <a:r>
              <a:rPr lang="en-GB" sz="1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number_of_ratings</a:t>
            </a:r>
            <a:r>
              <a:rPr lang="en-GB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shows at best a mild positive pattern: heavily discounted phones sometimes attract more ratings, but discount alone does not fully explain engagement.</a:t>
            </a:r>
            <a:r>
              <a:rPr lang="en-GB" sz="1800" b="0" i="0" u="none" strike="noStrike" dirty="0">
                <a:solidFill>
                  <a:srgbClr val="0D47A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¶</a:t>
            </a:r>
            <a:endParaRPr lang="en-GB" sz="1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201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9818E-DAFD-9A23-AA9C-58C42077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0C189-12E1-CAA7-F203-94A1E3CDC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B9B459-E6D9-E782-8187-395A25C96E33}"/>
              </a:ext>
            </a:extLst>
          </p:cNvPr>
          <p:cNvSpPr txBox="1"/>
          <p:nvPr/>
        </p:nvSpPr>
        <p:spPr>
          <a:xfrm>
            <a:off x="383458" y="1124305"/>
            <a:ext cx="6096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1306"/>
              </a:spcBef>
              <a:spcAft>
                <a:spcPts val="871"/>
              </a:spcAft>
              <a:buNone/>
            </a:pPr>
            <a:r>
              <a:rPr lang="en-GB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models balance price and popularity best?</a:t>
            </a:r>
          </a:p>
        </p:txBody>
      </p:sp>
      <p:pic>
        <p:nvPicPr>
          <p:cNvPr id="6" name="Picture 5" descr="A chart with numbers and dots&#10;&#10;AI-generated content may be incorrect.">
            <a:extLst>
              <a:ext uri="{FF2B5EF4-FFF2-40B4-BE49-F238E27FC236}">
                <a16:creationId xmlns:a16="http://schemas.microsoft.com/office/drawing/2014/main" id="{59FDB5B1-FF8E-CEFD-2DCC-D9E28E9A6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159" y="1622968"/>
            <a:ext cx="7068841" cy="49872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677780-C4D1-B7CE-DD1D-2CF1B71301F3}"/>
              </a:ext>
            </a:extLst>
          </p:cNvPr>
          <p:cNvSpPr txBox="1"/>
          <p:nvPr/>
        </p:nvSpPr>
        <p:spPr>
          <a:xfrm>
            <a:off x="550607" y="2902462"/>
            <a:ext cx="4852336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907"/>
              </a:spcBef>
              <a:spcAft>
                <a:spcPts val="605"/>
              </a:spcAft>
              <a:buNone/>
            </a:pPr>
            <a:r>
              <a:rPr lang="en-GB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📌Identify “value for money” cluster – moderate price, high popularity. On the price vs popularity plot, the most attractive phones cluster in the mid‑price range with high ratings/reviews counts, indicating strong demand at affordable prices rather than at extreme low or high prices.</a:t>
            </a:r>
          </a:p>
        </p:txBody>
      </p:sp>
    </p:spTree>
    <p:extLst>
      <p:ext uri="{BB962C8B-B14F-4D97-AF65-F5344CB8AC3E}">
        <p14:creationId xmlns:p14="http://schemas.microsoft.com/office/powerpoint/2010/main" val="4218413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7BBF4-1CFA-CD8B-899F-E41585DD1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BB468-2A6E-A565-4345-2C57412BA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27C7B0-8AA7-5151-B41B-D9D3FC2CBFE0}"/>
              </a:ext>
            </a:extLst>
          </p:cNvPr>
          <p:cNvSpPr txBox="1"/>
          <p:nvPr/>
        </p:nvSpPr>
        <p:spPr>
          <a:xfrm>
            <a:off x="471948" y="124229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06"/>
              </a:spcBef>
              <a:spcAft>
                <a:spcPts val="871"/>
              </a:spcAft>
              <a:buNone/>
            </a:pPr>
            <a:r>
              <a:rPr lang="en-GB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ratings different across colours?</a:t>
            </a:r>
          </a:p>
        </p:txBody>
      </p:sp>
      <p:pic>
        <p:nvPicPr>
          <p:cNvPr id="7" name="Picture 6" descr="A graph with different colors&#10;&#10;AI-generated content may be incorrect.">
            <a:extLst>
              <a:ext uri="{FF2B5EF4-FFF2-40B4-BE49-F238E27FC236}">
                <a16:creationId xmlns:a16="http://schemas.microsoft.com/office/drawing/2014/main" id="{FCD5CD03-3BB5-1A3D-0D2A-7A0FA02C1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263" y="1341376"/>
            <a:ext cx="7467737" cy="49258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84B9D1-8EAC-895F-BCA3-D89DB32B338A}"/>
              </a:ext>
            </a:extLst>
          </p:cNvPr>
          <p:cNvSpPr txBox="1"/>
          <p:nvPr/>
        </p:nvSpPr>
        <p:spPr>
          <a:xfrm>
            <a:off x="267861" y="2952032"/>
            <a:ext cx="4660489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907"/>
              </a:spcBef>
              <a:spcAft>
                <a:spcPts val="605"/>
              </a:spcAft>
              <a:buNone/>
            </a:pPr>
            <a:r>
              <a:rPr lang="en-GB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📌Boxplots of ratings by colour stay tight around 4.3–4.4 for all major colours, so </a:t>
            </a:r>
            <a:r>
              <a:rPr lang="en-GB" sz="1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colour influences price </a:t>
            </a:r>
            <a:r>
              <a:rPr lang="en-GB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positioning more than customer satisfaction scores.</a:t>
            </a:r>
          </a:p>
        </p:txBody>
      </p:sp>
    </p:spTree>
    <p:extLst>
      <p:ext uri="{BB962C8B-B14F-4D97-AF65-F5344CB8AC3E}">
        <p14:creationId xmlns:p14="http://schemas.microsoft.com/office/powerpoint/2010/main" val="3097881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9B56F-CE91-689B-D969-3B9BEF875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41CBF-5171-F58F-E6DC-193491D4D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pic>
        <p:nvPicPr>
          <p:cNvPr id="4" name="Picture 3" descr="A green and black graph&#10;&#10;AI-generated content may be incorrect.">
            <a:extLst>
              <a:ext uri="{FF2B5EF4-FFF2-40B4-BE49-F238E27FC236}">
                <a16:creationId xmlns:a16="http://schemas.microsoft.com/office/drawing/2014/main" id="{F2B21AD1-8344-17DF-7E5E-3BC90C4C8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9" y="1342982"/>
            <a:ext cx="3903182" cy="3347004"/>
          </a:xfrm>
          <a:prstGeom prst="rect">
            <a:avLst/>
          </a:prstGeom>
        </p:spPr>
      </p:pic>
      <p:pic>
        <p:nvPicPr>
          <p:cNvPr id="7" name="Picture 6" descr="A graph of a cleaning procedure&#10;&#10;AI-generated content may be incorrect.">
            <a:extLst>
              <a:ext uri="{FF2B5EF4-FFF2-40B4-BE49-F238E27FC236}">
                <a16:creationId xmlns:a16="http://schemas.microsoft.com/office/drawing/2014/main" id="{0877AEC8-E56C-E42F-51F9-C44964011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895" y="1440078"/>
            <a:ext cx="4505954" cy="33246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B022D3-EDD9-21BA-9794-83A6ED5159A4}"/>
              </a:ext>
            </a:extLst>
          </p:cNvPr>
          <p:cNvSpPr txBox="1"/>
          <p:nvPr/>
        </p:nvSpPr>
        <p:spPr>
          <a:xfrm>
            <a:off x="2821859" y="502590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Realme’s smartphone lineup in this dataset is mainly mid-range priced with consistently high customer ratings, where higher RAM/ROM and advanced features define a smaller premium segment, showing strong value-for-money positioning and stable user satisfaction across models.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5122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B056F-9062-30AD-DC3E-EDA58FCBD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3DDBDDD-8DA7-BAB8-21F7-F65F17D36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6" y="294672"/>
            <a:ext cx="10046110" cy="619727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</a:t>
            </a:r>
            <a:r>
              <a:rPr lang="en-GB" dirty="0"/>
              <a:t>: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C01419-6BF0-1801-43CF-7B85C7B5F365}"/>
              </a:ext>
            </a:extLst>
          </p:cNvPr>
          <p:cNvSpPr txBox="1"/>
          <p:nvPr/>
        </p:nvSpPr>
        <p:spPr>
          <a:xfrm>
            <a:off x="550606" y="106828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🔝 Most popular: 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6GB RAM + 128GB ROM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(volume driver)</a:t>
            </a:r>
          </a:p>
          <a:p>
            <a:pPr algn="l"/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💎 Premium tiers: 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8GB/12GB RAM + 256GB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storage</a:t>
            </a:r>
          </a:p>
          <a:p>
            <a:pPr algn="l"/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📈 Strong correlation between specs &amp; pricing strategy</a:t>
            </a:r>
          </a:p>
          <a:p>
            <a:pPr algn="l"/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🌐 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5G standard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across entire lineup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D0A206-5D9D-DB2C-9EA9-34C327713EA5}"/>
              </a:ext>
            </a:extLst>
          </p:cNvPr>
          <p:cNvSpPr txBox="1"/>
          <p:nvPr/>
        </p:nvSpPr>
        <p:spPr>
          <a:xfrm>
            <a:off x="275303" y="2527936"/>
            <a:ext cx="10975259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📊 Price distribution across colour variants</a:t>
            </a:r>
          </a:p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🔗 Correlation matrix: RAM ↔ ROM ↔ Price ↔ Ratings</a:t>
            </a:r>
          </a:p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💹 Discount patterns &amp; market segmentation</a:t>
            </a:r>
          </a:p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📈 Ratings consistency &amp; product positioning</a:t>
            </a:r>
          </a:p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Satisfaction: </a:t>
            </a: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⭐ Average rating: </a:t>
            </a:r>
            <a:r>
              <a:rPr lang="en-GB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4.3-4.4/5.0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across all models</a:t>
            </a:r>
          </a:p>
          <a:p>
            <a:pPr algn="l"/>
            <a:r>
              <a:rPr lang="en-GB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High consistency shows quality reliability</a:t>
            </a:r>
          </a:p>
          <a:p>
            <a:pPr algn="l"/>
            <a:r>
              <a:rPr lang="en-GB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💬 Popular models: 30K+ ratings with 2K+ reviews</a:t>
            </a:r>
          </a:p>
          <a:p>
            <a:pPr algn="l"/>
            <a:r>
              <a:rPr lang="en-GB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🎯 Ratings stable despite price differences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EC1918-6DF0-1601-D975-AE8336B7B2E2}"/>
              </a:ext>
            </a:extLst>
          </p:cNvPr>
          <p:cNvSpPr txBox="1"/>
          <p:nvPr/>
        </p:nvSpPr>
        <p:spPr>
          <a:xfrm>
            <a:off x="6174658" y="4780244"/>
            <a:ext cx="60960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 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drives volume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premium drives margin</a:t>
            </a:r>
            <a:endParaRPr lang="en-IN" sz="1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🎨 Colour variants have 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minimal price impact</a:t>
            </a:r>
            <a:endParaRPr lang="en-IN" sz="1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⚙️ Specs strongly influence ratings &amp; perception</a:t>
            </a:r>
          </a:p>
          <a:p>
            <a:pPr algn="l"/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🎁 Optimal discount range: 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25%-33%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positioning</a:t>
            </a:r>
          </a:p>
        </p:txBody>
      </p:sp>
    </p:spTree>
    <p:extLst>
      <p:ext uri="{BB962C8B-B14F-4D97-AF65-F5344CB8AC3E}">
        <p14:creationId xmlns:p14="http://schemas.microsoft.com/office/powerpoint/2010/main" val="1363571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9DEF-89CA-A2D6-D3EC-477F8E77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193675"/>
            <a:ext cx="2794000" cy="904875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9A65FA-1BD2-3D0C-9464-54228F1AF97D}"/>
              </a:ext>
            </a:extLst>
          </p:cNvPr>
          <p:cNvSpPr txBox="1"/>
          <p:nvPr/>
        </p:nvSpPr>
        <p:spPr>
          <a:xfrm>
            <a:off x="2428567" y="1721801"/>
            <a:ext cx="7472517" cy="170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rgbClr val="E0E6ED"/>
                </a:solidFill>
                <a:effectLst/>
                <a:latin typeface="Comic Sans MS" panose="030F0702030302020204" pitchFamily="66" charset="0"/>
              </a:rPr>
              <a:t>💵 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Average price: </a:t>
            </a:r>
            <a:r>
              <a:rPr lang="en-IN" sz="1800" b="1" i="0" dirty="0">
                <a:solidFill>
                  <a:srgbClr val="00B0F0"/>
                </a:solidFill>
                <a:effectLst/>
                <a:latin typeface="Comic Sans MS" panose="030F0702030302020204" pitchFamily="66" charset="0"/>
              </a:rPr>
              <a:t>₹15,500-17,500</a:t>
            </a:r>
            <a:r>
              <a:rPr lang="en-IN" sz="1800" b="0" i="0" dirty="0">
                <a:solidFill>
                  <a:srgbClr val="00B0F0"/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across models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🏆 Budget segment (₹10K-13K) dominates with </a:t>
            </a:r>
            <a:r>
              <a:rPr lang="en-IN" sz="1800" b="1" i="0" dirty="0">
                <a:solidFill>
                  <a:srgbClr val="00B0F0"/>
                </a:solidFill>
                <a:effectLst/>
                <a:latin typeface="Comic Sans MS" panose="030F0702030302020204" pitchFamily="66" charset="0"/>
              </a:rPr>
              <a:t>30% market share</a:t>
            </a:r>
            <a:endParaRPr lang="en-IN" sz="1800" b="0" i="0" dirty="0">
              <a:solidFill>
                <a:srgbClr val="00B0F0"/>
              </a:solidFill>
              <a:effectLst/>
              <a:latin typeface="Comic Sans MS" panose="030F0702030302020204" pitchFamily="66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🎁 Discount range: </a:t>
            </a:r>
            <a:r>
              <a:rPr lang="en-IN" sz="1800" b="1" i="0" dirty="0">
                <a:solidFill>
                  <a:srgbClr val="00B0F0"/>
                </a:solidFill>
                <a:effectLst/>
                <a:latin typeface="Comic Sans MS" panose="030F0702030302020204" pitchFamily="66" charset="0"/>
              </a:rPr>
              <a:t>5%-33%</a:t>
            </a:r>
            <a:r>
              <a:rPr lang="en-IN" sz="1800" b="0" i="0" dirty="0">
                <a:solidFill>
                  <a:srgbClr val="00B0F0"/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off original price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⭐ Premium models show lower discounts, stronger positioning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E89059-348E-B23F-A452-9559E079A4AC}"/>
              </a:ext>
            </a:extLst>
          </p:cNvPr>
          <p:cNvSpPr txBox="1"/>
          <p:nvPr/>
        </p:nvSpPr>
        <p:spPr>
          <a:xfrm>
            <a:off x="466213" y="4188121"/>
            <a:ext cx="11259574" cy="1426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i="0" dirty="0">
                <a:solidFill>
                  <a:srgbClr val="00D9FF"/>
                </a:solidFill>
                <a:effectLst/>
                <a:latin typeface="Comic Sans MS" panose="030F0702030302020204" pitchFamily="66" charset="0"/>
                <a:cs typeface="Times New Roman" panose="02020603050405020304" pitchFamily="18" charset="0"/>
              </a:rPr>
              <a:t>Realme's mid-range focus with consistent 4.3-4.4★ ratings</a:t>
            </a:r>
            <a:r>
              <a:rPr lang="en-IN" sz="2000" b="0" i="0" dirty="0">
                <a:solidFill>
                  <a:srgbClr val="E0E6ED"/>
                </a:solidFill>
                <a:effectLst/>
                <a:latin typeface="Comic Sans MS" panose="030F0702030302020204" pitchFamily="66" charset="0"/>
                <a:cs typeface="Times New Roman" panose="02020603050405020304" pitchFamily="18" charset="0"/>
              </a:rPr>
              <a:t> 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Comic Sans MS" panose="030F0702030302020204" pitchFamily="66" charset="0"/>
                <a:cs typeface="Times New Roman" panose="02020603050405020304" pitchFamily="18" charset="0"/>
              </a:rPr>
              <a:t>demonstrates strong value-for-money positioning, where budget segment drives volume, premium specs command pricing power, and strategic discounting (5%-33%) enables market dominance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.</a:t>
            </a:r>
            <a:endParaRPr lang="en-IN" sz="20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6870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F1FB5D26-1BC2-45B5-5BCB-F1DF929FB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>
            <a:extLst>
              <a:ext uri="{FF2B5EF4-FFF2-40B4-BE49-F238E27FC236}">
                <a16:creationId xmlns:a16="http://schemas.microsoft.com/office/drawing/2014/main" id="{A30C4859-54E9-B096-0C07-32BA83755F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3178" y="2601247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42F01092-7308-BBFE-4137-EAAC184D440C}"/>
              </a:ext>
            </a:extLst>
          </p:cNvPr>
          <p:cNvSpPr txBox="1"/>
          <p:nvPr/>
        </p:nvSpPr>
        <p:spPr>
          <a:xfrm>
            <a:off x="3983084" y="1081308"/>
            <a:ext cx="471625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630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</TotalTime>
  <Words>1223</Words>
  <Application>Microsoft Office PowerPoint</Application>
  <PresentationFormat>Widescreen</PresentationFormat>
  <Paragraphs>110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Times New Roman</vt:lpstr>
      <vt:lpstr>Calibri</vt:lpstr>
      <vt:lpstr>Arial</vt:lpstr>
      <vt:lpstr>system-ui</vt:lpstr>
      <vt:lpstr>Comic Sans MS</vt:lpstr>
      <vt:lpstr>Libre Baskerville</vt:lpstr>
      <vt:lpstr>Wingdings</vt:lpstr>
      <vt:lpstr>Office Theme</vt:lpstr>
      <vt:lpstr>PowerPoint Presentation</vt:lpstr>
      <vt:lpstr>About Me:</vt:lpstr>
      <vt:lpstr>Preface:</vt:lpstr>
      <vt:lpstr>Introduction:</vt:lpstr>
      <vt:lpstr>Business Problem:</vt:lpstr>
      <vt:lpstr>Objectives:</vt:lpstr>
      <vt:lpstr>Web Scraping:</vt:lpstr>
      <vt:lpstr>Dataset:</vt:lpstr>
      <vt:lpstr>libraries Used:</vt:lpstr>
      <vt:lpstr>Data Cleaning Steps: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Key Insights :</vt:lpstr>
      <vt:lpstr>Conclusion: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Amrutha Sai Yarragodala</cp:lastModifiedBy>
  <cp:revision>30</cp:revision>
  <dcterms:created xsi:type="dcterms:W3CDTF">2021-02-16T05:19:01Z</dcterms:created>
  <dcterms:modified xsi:type="dcterms:W3CDTF">2025-12-13T07:41:01Z</dcterms:modified>
</cp:coreProperties>
</file>